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6" r:id="rId5"/>
    <p:sldId id="338" r:id="rId6"/>
    <p:sldId id="313" r:id="rId7"/>
    <p:sldId id="337" r:id="rId8"/>
    <p:sldId id="339" r:id="rId9"/>
    <p:sldId id="311" r:id="rId10"/>
    <p:sldId id="331" r:id="rId11"/>
    <p:sldId id="304" r:id="rId12"/>
  </p:sldIdLst>
  <p:sldSz cx="12192000" cy="6858000"/>
  <p:notesSz cx="7103745" cy="10234295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371"/>
    <a:srgbClr val="D6DCE5"/>
    <a:srgbClr val="E2F0D9"/>
    <a:srgbClr val="BBE7E6"/>
    <a:srgbClr val="ADB8CA"/>
    <a:srgbClr val="ADB9C9"/>
    <a:srgbClr val="C5E0B5"/>
    <a:srgbClr val="CDD4F0"/>
    <a:srgbClr val="ADB8CD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7037" autoAdjust="0"/>
  </p:normalViewPr>
  <p:slideViewPr>
    <p:cSldViewPr snapToGrid="0" showGuides="1">
      <p:cViewPr varScale="1">
        <p:scale>
          <a:sx n="108" d="100"/>
          <a:sy n="108" d="100"/>
        </p:scale>
        <p:origin x="1037" y="115"/>
      </p:cViewPr>
      <p:guideLst>
        <p:guide orient="horz" pos="2193"/>
        <p:guide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109" d="100"/>
          <a:sy n="109" d="100"/>
        </p:scale>
        <p:origin x="7848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8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0B4AB03-2860-45B8-A0D7-FC995FC3A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439F219-1042-48FF-8657-2E904DD7C5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zh-CN" sz="1800" b="1" kern="10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itchFamily="2" charset="-122"/>
                <a:cs typeface="Times New Roman" panose="02020503050405090304" charset="0"/>
              </a:rPr>
              <a:t>尊敬的各位老师，同学，大家好！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l"/>
            <a:r>
              <a:rPr lang="zh-CN" altLang="zh-CN" sz="1800" b="1" kern="10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itchFamily="2" charset="-122"/>
                <a:cs typeface="Times New Roman" panose="02020503050405090304" charset="0"/>
              </a:rPr>
              <a:t>我是来自计算机技术专业的梁巨锟，今天我将汇报大论文的开题，题目</a:t>
            </a:r>
            <a:r>
              <a:rPr lang="zh-CN" altLang="en-US" sz="1800" b="1" kern="10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itchFamily="2" charset="-122"/>
                <a:cs typeface="Times New Roman" panose="02020503050405090304" charset="0"/>
              </a:rPr>
              <a:t>是</a:t>
            </a:r>
            <a:r>
              <a:rPr lang="zh-CN" altLang="zh-CN" sz="1800" b="1" kern="10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itchFamily="2" charset="-122"/>
                <a:cs typeface="Times New Roman" panose="02020503050405090304" charset="0"/>
              </a:rPr>
              <a:t>《</a:t>
            </a:r>
            <a:r>
              <a:rPr lang="zh-CN" altLang="en-US" sz="1800" b="1" spc="500" dirty="0">
                <a:solidFill>
                  <a:schemeClr val="bg1"/>
                </a:solidFill>
                <a:latin typeface="方正正大黑简体" pitchFamily="2" charset="-122"/>
                <a:ea typeface="方正正大黑简体" pitchFamily="2" charset="-122"/>
                <a:sym typeface="+mn-ea"/>
              </a:rPr>
              <a:t>面向数学问题求解的交互式智能问答模型研究及应用</a:t>
            </a:r>
            <a:r>
              <a:rPr lang="zh-CN" altLang="zh-CN" sz="1800" b="1" kern="10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itchFamily="2" charset="-122"/>
                <a:cs typeface="Times New Roman" panose="02020503050405090304" charset="0"/>
              </a:rPr>
              <a:t>》。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9F219-1042-48FF-8657-2E904DD7C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当前数学推理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任务中小模型的推理能力不足主要来自两个方面：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一是模型自身的局限。小模型推理链条短，复杂计算中容易累计误差，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CoT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、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ToT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、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ReAct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作用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有限。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二是数学任务本身的复杂性。多步推理任务结构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复杂往往涉及符号运算、方程转化与几何推导，小模型难以独立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解决。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因此，本研究的目标是提升小模型在数学推理中的稳定性与可靠性。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为解决这些问题，提出三条核心路径：问题分解：把复杂题拆成更容易处理的子步骤，减少推理链断裂。外部工具辅助：使用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Python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沙盒执行关键计算，减少因为贪婪解码的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错误。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推理优化：通过强化学习提升工具调用与多步推理的连贯性。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总体而言，本研究以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“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问题分解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+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工具增强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”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为核心路线，结合强化学习，让小模型具备更强的推理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能力。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本研究围绕三个相互衔接的任务展开。首先，通过渐进式工具调用调度强化学习，增强小参数模型的数学推理能力；其次，以该模型为基础，引入学生认知增益反馈，开展数学教学能力二次训练；最后，整理模型与配套资源，构建统一推理接口和交互式应用原型，支持研究成果的开放与复用。下面重点介绍两项算法工作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/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这一页展示的是推理模型的运行流程。第一步，我们先把数学题按苏格拉底式拆解成多个小步骤，让模型知道应该按什么逻辑去推理。第二步，模型根据这些小步骤生成推理指令，并调用</a:t>
            </a:r>
            <a:r>
              <a:rPr lang="en-US" altLang="zh-CN" sz="1400" kern="100" dirty="0">
                <a:latin typeface="Times New Roman" panose="02020503050405090304" charset="0"/>
                <a:ea typeface="宋体" pitchFamily="2" charset="-122"/>
              </a:rPr>
              <a:t> Python 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工具完成关键计算；最后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对比最终结果获得奖励信号，使用</a:t>
            </a:r>
            <a:r>
              <a:rPr lang="en-US" altLang="zh-CN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GRPO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优化工具调用与推理策略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，让模型的推理链条更连贯、结果更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准确。</a:t>
            </a:r>
            <a:endParaRPr lang="zh-CN" altLang="en-US" sz="1400" kern="100" dirty="0">
              <a:latin typeface="Times New Roman" panose="02020503050405090304" charset="0"/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/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这一页展示的是推理模型的运行流程。第一步，我们先把数学题按苏格拉底式拆解成多个小步骤，让模型知道应该按什么逻辑去推理。第二步，模型根据这些小步骤生成推理指令，并调用</a:t>
            </a:r>
            <a:r>
              <a:rPr lang="en-US" altLang="zh-CN" sz="1400" kern="100" dirty="0">
                <a:latin typeface="Times New Roman" panose="02020503050405090304" charset="0"/>
                <a:ea typeface="宋体" pitchFamily="2" charset="-122"/>
              </a:rPr>
              <a:t> Python 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工具完成关键计算；最后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对比最终结果获得奖励信号，使用</a:t>
            </a:r>
            <a:r>
              <a:rPr lang="en-US" altLang="zh-CN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GRPO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优化工具调用与推理策略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，让模型的推理链条更连贯、结果更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准确。</a:t>
            </a:r>
            <a:endParaRPr lang="zh-CN" altLang="en-US" sz="1400" kern="100" dirty="0">
              <a:latin typeface="Times New Roman" panose="02020503050405090304" charset="0"/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/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这一页展示的是推理模型的运行流程。第一步，我们先把数学题按苏格拉底式拆解成多个小步骤，让模型知道应该按什么逻辑去推理。第二步，模型根据这些小步骤生成推理指令，并调用</a:t>
            </a:r>
            <a:r>
              <a:rPr lang="en-US" altLang="zh-CN" sz="1400" kern="100" dirty="0">
                <a:latin typeface="Times New Roman" panose="02020503050405090304" charset="0"/>
                <a:ea typeface="宋体" pitchFamily="2" charset="-122"/>
              </a:rPr>
              <a:t> Python 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工具完成关键计算；最后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对比最终结果获得奖励信号，使用</a:t>
            </a:r>
            <a:r>
              <a:rPr lang="en-US" altLang="zh-CN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GRPO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优化工具调用与推理策略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，让模型的推理链条更连贯、结果更</a:t>
            </a:r>
            <a:r>
              <a:rPr lang="zh-CN" altLang="en-US" sz="1400" kern="100" dirty="0">
                <a:latin typeface="Times New Roman" panose="02020503050405090304" charset="0"/>
                <a:ea typeface="宋体" pitchFamily="2" charset="-122"/>
              </a:rPr>
              <a:t>准确。</a:t>
            </a:r>
            <a:endParaRPr lang="zh-CN" altLang="en-US" sz="1400" kern="100" dirty="0">
              <a:latin typeface="Times New Roman" panose="02020503050405090304" charset="0"/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/>
              <a:t>前期我主要完成了两类工作：一是模型训练准备，包括用</a:t>
            </a:r>
            <a:r>
              <a:rPr lang="en-US" altLang="zh-CN" sz="1400" b="0" dirty="0"/>
              <a:t> Unsloth </a:t>
            </a:r>
            <a:r>
              <a:rPr lang="zh-CN" altLang="en-US" sz="1400" b="0" dirty="0"/>
              <a:t>做量化微调、在</a:t>
            </a:r>
            <a:r>
              <a:rPr lang="en-US" altLang="zh-CN" sz="1400" b="0" dirty="0"/>
              <a:t> VERL </a:t>
            </a:r>
            <a:r>
              <a:rPr lang="zh-CN" altLang="en-US" sz="1400" b="0" dirty="0"/>
              <a:t>上跑通</a:t>
            </a:r>
            <a:r>
              <a:rPr lang="en-US" altLang="zh-CN" sz="1400" b="0" dirty="0"/>
              <a:t> GRPO/GSPO</a:t>
            </a:r>
            <a:r>
              <a:rPr lang="zh-CN" altLang="en-US" sz="1400" b="0" dirty="0"/>
              <a:t>，并搭建</a:t>
            </a:r>
            <a:r>
              <a:rPr lang="en-US" altLang="zh-CN" sz="1400" b="0" dirty="0"/>
              <a:t> Python </a:t>
            </a:r>
            <a:r>
              <a:rPr lang="zh-CN" altLang="en-US" sz="1400" b="0" dirty="0"/>
              <a:t>工具链和数学评测体系。二是核心方法实验，完成</a:t>
            </a:r>
            <a:r>
              <a:rPr lang="en-US" altLang="zh-CN" sz="1400" b="0" dirty="0"/>
              <a:t> ToRL </a:t>
            </a:r>
            <a:r>
              <a:rPr lang="zh-CN" altLang="en-US" sz="1400" b="0" dirty="0"/>
              <a:t>复现，并独立验证了问题分解对小模型推理效果的提升。表格展示了分解后模型在多个数据集上的明显增益。</a:t>
            </a:r>
            <a:endParaRPr lang="zh-CN" altLang="en-US" sz="14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我的研究计划分为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四个阶段：第一阶段从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2025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8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月到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12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月，主要阅读数学推理和苏格拉底式教学相关文献，完成理论基础储备。第二阶段从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2025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12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月到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2026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4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月，将设计基于问题分解与工具增强的数学推理模型，并完成一篇论文和一项国家发明专利的申请。第三阶段从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2026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4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月到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10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月，重点构建基于强化学习的数学求解问答模型，并验证其在公共数据集上的有效性。最后在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2026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10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月到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2027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 6 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charset="0"/>
              </a:rPr>
              <a:t>月，将完成模型生态构建，撰写毕业论文并准备答辩。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400" b="1" dirty="0"/>
              <a:t>以上是我的汇报内容。敬请各位老师批评指正！</a:t>
            </a:r>
            <a:endParaRPr lang="zh-CN" altLang="en-US" sz="1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5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tags" Target="../tags/tag7.xml"/><Relationship Id="rId3" Type="http://schemas.openxmlformats.org/officeDocument/2006/relationships/image" Target="../media/image13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20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576367"/>
            <a:ext cx="12192000" cy="2306977"/>
          </a:xfrm>
          <a:prstGeom prst="rect">
            <a:avLst/>
          </a:prstGeom>
          <a:solidFill>
            <a:srgbClr val="1A3F6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07206" y="2228671"/>
            <a:ext cx="1157758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spc="500" dirty="0">
                <a:solidFill>
                  <a:schemeClr val="bg1"/>
                </a:solidFill>
                <a:latin typeface="方正正大黑简体" pitchFamily="2" charset="-122"/>
                <a:ea typeface="方正正大黑简体" pitchFamily="2" charset="-122"/>
              </a:rPr>
              <a:t>面向数学问题求解的交互式智能</a:t>
            </a:r>
            <a:endParaRPr lang="zh-CN" altLang="en-US" sz="3600" b="1" spc="500" dirty="0">
              <a:solidFill>
                <a:schemeClr val="bg1"/>
              </a:solidFill>
              <a:latin typeface="方正正大黑简体" pitchFamily="2" charset="-122"/>
              <a:ea typeface="方正正大黑简体" pitchFamily="2" charset="-122"/>
            </a:endParaRPr>
          </a:p>
          <a:p>
            <a:pPr algn="ctr"/>
            <a:r>
              <a:rPr lang="zh-CN" altLang="en-US" sz="3600" b="1" spc="500" dirty="0">
                <a:solidFill>
                  <a:schemeClr val="bg1"/>
                </a:solidFill>
                <a:latin typeface="方正正大黑简体" pitchFamily="2" charset="-122"/>
                <a:ea typeface="方正正大黑简体" pitchFamily="2" charset="-122"/>
              </a:rPr>
              <a:t>问答模型研究及应用</a:t>
            </a:r>
            <a:endParaRPr lang="zh-CN" altLang="en-US" sz="3600" b="1" spc="500" dirty="0">
              <a:solidFill>
                <a:schemeClr val="bg1"/>
              </a:solidFill>
              <a:latin typeface="方正正大黑简体" pitchFamily="2" charset="-122"/>
              <a:ea typeface="方正正大黑简体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" y="3868838"/>
            <a:ext cx="12192000" cy="7092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45012" y="4994910"/>
            <a:ext cx="3101975" cy="112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梁巨锟</a:t>
            </a:r>
            <a:endParaRPr lang="en-US" altLang="zh-CN" sz="2200" b="1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  <a:p>
            <a:pPr algn="ctr" fontAlgn="auto">
              <a:lnSpc>
                <a:spcPct val="100000"/>
              </a:lnSpc>
              <a:buClrTx/>
              <a:buSzTx/>
              <a:buFontTx/>
              <a:defRPr/>
            </a:pPr>
            <a:endParaRPr lang="zh-CN" altLang="en-US" sz="2200" b="1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  <a:p>
            <a:pPr algn="ctr" fontAlgn="auto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202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6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年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10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月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29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日</a:t>
            </a:r>
            <a:endParaRPr lang="zh-CN" altLang="en-US" sz="2200" b="1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</p:txBody>
      </p:sp>
      <p:pic>
        <p:nvPicPr>
          <p:cNvPr id="9" name="图片 8" descr="93748f542fde748fa158602fae13828"/>
          <p:cNvPicPr>
            <a:picLocks noChangeAspect="1"/>
          </p:cNvPicPr>
          <p:nvPr/>
        </p:nvPicPr>
        <p:blipFill>
          <a:blip r:embed="rId2"/>
          <a:srcRect t="35778" b="36222"/>
          <a:stretch>
            <a:fillRect/>
          </a:stretch>
        </p:blipFill>
        <p:spPr>
          <a:xfrm>
            <a:off x="-291568" y="-111408"/>
            <a:ext cx="7771130" cy="1570990"/>
          </a:xfrm>
          <a:prstGeom prst="rect">
            <a:avLst/>
          </a:prstGeom>
        </p:spPr>
      </p:pic>
      <p:sp>
        <p:nvSpPr>
          <p:cNvPr id="2" name="TextBox 23"/>
          <p:cNvSpPr txBox="1"/>
          <p:nvPr/>
        </p:nvSpPr>
        <p:spPr>
          <a:xfrm>
            <a:off x="900745" y="4000129"/>
            <a:ext cx="1116584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专业：计算机技术              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                            </a:t>
            </a:r>
            <a:r>
              <a:rPr lang="en-US" altLang="zh-CN" sz="2400" b="1"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+mn-ea"/>
              </a:rPr>
              <a:t>              </a:t>
            </a:r>
            <a:r>
              <a:rPr lang="zh-CN" altLang="en-US" sz="2400" b="1"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+mn-ea"/>
              </a:rPr>
              <a:t>导师：甘健侯  </a:t>
            </a:r>
            <a:r>
              <a:rPr lang="en-US" altLang="zh-CN" sz="2400" b="1"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2400" b="1"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+mn-ea"/>
              </a:rPr>
              <a:t>教授 </a:t>
            </a:r>
            <a:r>
              <a:rPr lang="en-US" altLang="zh-CN" sz="2400" b="1"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+mn-ea"/>
              </a:rPr>
              <a:t>               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     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307"/>
    </mc:Choice>
    <mc:Fallback>
      <p:transition advTm="113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流程图: 离页连接符 37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0" y="952500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41" name="组合 40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42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4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46" name="文本框 38"/>
          <p:cNvSpPr txBox="1"/>
          <p:nvPr/>
        </p:nvSpPr>
        <p:spPr>
          <a:xfrm>
            <a:off x="1264217" y="351896"/>
            <a:ext cx="41014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一、研究背景与关键问题</a:t>
            </a:r>
            <a:endParaRPr lang="zh-CN" altLang="en-US" sz="2800" b="1" dirty="0">
              <a:solidFill>
                <a:srgbClr val="314371"/>
              </a:solidFill>
              <a:latin typeface="微软雅黑"/>
              <a:ea typeface="微软雅黑"/>
              <a:sym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</a:fld>
            <a:r>
              <a:rPr lang="zh-CN" altLang="en-US" sz="1200" dirty="0">
                <a:solidFill>
                  <a:srgbClr val="314371"/>
                </a:solidFill>
                <a:latin typeface="Arial" panose="020B0604020202090204"/>
                <a:ea typeface="微软雅黑"/>
              </a:rPr>
              <a:t>  </a:t>
            </a:r>
            <a:r>
              <a:rPr lang="zh-CN" altLang="en-US" sz="1200" dirty="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7695" y="1054100"/>
            <a:ext cx="10059035" cy="995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大语言模型为数学问题求解与交互式教学提供了新的技术途径。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面向数学教育，小参数模型需要具备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可靠的推理能力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、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有效的教学引导能力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，并便于部署与复用。</a:t>
            </a: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 rot="16200000">
            <a:off x="1995805" y="1279525"/>
            <a:ext cx="2494280" cy="5193665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5B9BD5">
                  <a:lumMod val="20000"/>
                  <a:lumOff val="80000"/>
                </a:srgb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00000">
                  <a:srgbClr val="4472C4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>
              <a:lnSpc>
                <a:spcPts val="216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数学推理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ts val="2160"/>
              </a:lnSpc>
            </a:pP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复杂推理可靠性不足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小模型易出现计算错误与多步推理误差累积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关键挑战：兼顾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工具探索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训练稳定</a:t>
            </a: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 rot="16200000">
            <a:off x="7674610" y="1273175"/>
            <a:ext cx="2481580" cy="5193665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5B9BD5">
                  <a:lumMod val="20000"/>
                  <a:lumOff val="80000"/>
                </a:srgb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00000">
                  <a:srgbClr val="4472C4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教学引导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ts val="2160"/>
              </a:lnSpc>
            </a:pP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多轮教学反馈不足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通用模型倾向直接给出答案，难以评价每轮提示的作用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lnSpc>
                <a:spcPts val="216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关键挑战：为具体教学行为提供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细粒度反馈</a:t>
            </a: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31" name="图片 30" descr="OKR目标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85" y="5475605"/>
            <a:ext cx="1096645" cy="103949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691130" y="5754370"/>
            <a:ext cx="8179435" cy="44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研究目标：增强小参数模型的数学推理与教学引导能力，支持模型开放与应用。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0148"/>
    </mc:Choice>
    <mc:Fallback>
      <p:transition advTm="1014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流程图: 离页连接符 37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0" y="952500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41" name="组合 40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42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4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46" name="文本框 38"/>
          <p:cNvSpPr txBox="1"/>
          <p:nvPr/>
        </p:nvSpPr>
        <p:spPr>
          <a:xfrm>
            <a:off x="1264217" y="351896"/>
            <a:ext cx="4813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二、研究内容与总体技术路线</a:t>
            </a:r>
            <a:endParaRPr lang="zh-CN" altLang="en-US" sz="2800" b="1" dirty="0">
              <a:solidFill>
                <a:srgbClr val="314371"/>
              </a:solidFill>
              <a:latin typeface="微软雅黑"/>
              <a:ea typeface="微软雅黑"/>
              <a:sym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</a:fld>
            <a:r>
              <a:rPr lang="zh-CN" altLang="en-US" sz="1200" dirty="0">
                <a:solidFill>
                  <a:srgbClr val="314371"/>
                </a:solidFill>
                <a:latin typeface="Arial" panose="020B0604020202090204"/>
                <a:ea typeface="微软雅黑"/>
              </a:rPr>
              <a:t>  </a:t>
            </a:r>
            <a:r>
              <a:rPr lang="zh-CN" altLang="en-US" sz="1200" dirty="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中期答辩-研究内容与总体技术路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1031240"/>
            <a:ext cx="10267315" cy="5569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0148"/>
    </mc:Choice>
    <mc:Fallback>
      <p:transition advTm="10148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流程图: 离页连接符 2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</a:fld>
            <a:r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  <a:t>  </a:t>
            </a: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00" y="952019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0" name="文本框 38"/>
          <p:cNvSpPr txBox="1"/>
          <p:nvPr/>
        </p:nvSpPr>
        <p:spPr>
          <a:xfrm>
            <a:off x="1264217" y="351896"/>
            <a:ext cx="38639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三、</a:t>
            </a:r>
            <a:r>
              <a:rPr lang="en-US" altLang="zh-CN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PTCS-RL </a:t>
            </a:r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方法设计</a:t>
            </a:r>
            <a:endParaRPr lang="zh-CN" altLang="en-US" sz="2800" b="1">
              <a:solidFill>
                <a:srgbClr val="314371"/>
              </a:solidFill>
              <a:latin typeface="微软雅黑"/>
              <a:ea typeface="微软雅黑"/>
              <a:sym typeface="微软雅黑" panose="020B0503020204020204" pitchFamily="34" charset="-122"/>
            </a:endParaRPr>
          </a:p>
        </p:txBody>
      </p:sp>
      <p:pic>
        <p:nvPicPr>
          <p:cNvPr id="15" name="图片 14" descr="原理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143635"/>
            <a:ext cx="10389870" cy="4928870"/>
          </a:xfrm>
          <a:prstGeom prst="rect">
            <a:avLst/>
          </a:prstGeom>
        </p:spPr>
      </p:pic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 rot="16200000">
            <a:off x="5720715" y="2599690"/>
            <a:ext cx="521970" cy="764413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5B9BD5">
                  <a:lumMod val="20000"/>
                  <a:lumOff val="80000"/>
                </a:srgbClr>
              </a:gs>
            </a:gsLst>
            <a:lin ang="10800000" scaled="1"/>
            <a:tileRect/>
          </a:gradFill>
          <a:ln w="12700" cap="flat" cmpd="sng" algn="ctr"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00000">
                  <a:srgbClr val="4472C4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渐进式调度兼顾低预算的训练稳定性与高预算的多步工具探索能力</a:t>
            </a: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914"/>
    </mc:Choice>
    <mc:Fallback>
      <p:transition advTm="891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流程图: 离页连接符 2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</a:fld>
            <a:r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  <a:t>  </a:t>
            </a: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00" y="952019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0" name="文本框 38"/>
          <p:cNvSpPr txBox="1"/>
          <p:nvPr/>
        </p:nvSpPr>
        <p:spPr>
          <a:xfrm>
            <a:off x="1264217" y="351896"/>
            <a:ext cx="38639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三、</a:t>
            </a:r>
            <a:r>
              <a:rPr lang="en-US" altLang="zh-CN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PTCS-RL </a:t>
            </a:r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实验结果</a:t>
            </a:r>
            <a:endParaRPr lang="zh-CN" altLang="en-US" sz="2800" b="1">
              <a:solidFill>
                <a:srgbClr val="314371"/>
              </a:solidFill>
              <a:latin typeface="微软雅黑"/>
              <a:ea typeface="微软雅黑"/>
              <a:sym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" y="1052830"/>
            <a:ext cx="6297930" cy="3021330"/>
          </a:xfrm>
          <a:prstGeom prst="rect">
            <a:avLst/>
          </a:prstGeom>
        </p:spPr>
      </p:pic>
      <p:pic>
        <p:nvPicPr>
          <p:cNvPr id="13" name="图片 12" descr="code_rate_token_length_horizontal_combin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7800" y="1103630"/>
            <a:ext cx="5537200" cy="2475230"/>
          </a:xfrm>
          <a:prstGeom prst="rect">
            <a:avLst/>
          </a:prstGeom>
        </p:spPr>
      </p:pic>
      <p:pic>
        <p:nvPicPr>
          <p:cNvPr id="14" name="图片 13" descr="aime24_aime25_avg_allowed_tool_calls_horizontal_combin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325" y="3947160"/>
            <a:ext cx="5527675" cy="230378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 rot="16200000">
            <a:off x="3019425" y="2545080"/>
            <a:ext cx="826135" cy="5193665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5B9BD5">
                  <a:lumMod val="20000"/>
                  <a:lumOff val="80000"/>
                </a:srgbClr>
              </a:gs>
            </a:gsLst>
            <a:lin ang="10800000" scaled="1"/>
            <a:tileRect/>
          </a:gradFill>
          <a:ln w="12700" cap="flat" cmpd="sng" algn="ctr"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00000">
                  <a:srgbClr val="4472C4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四项基准平均准确率较 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ToRL 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提高 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4.78 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个百分点，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AIME24 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提高 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10.0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个百分点。</a:t>
            </a: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914"/>
    </mc:Choice>
    <mc:Fallback>
      <p:transition advTm="89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流程图: 离页连接符 2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</a:fld>
            <a:r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  <a:t>  </a:t>
            </a: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00" y="952019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0" name="文本框 38"/>
          <p:cNvSpPr txBox="1"/>
          <p:nvPr/>
        </p:nvSpPr>
        <p:spPr>
          <a:xfrm>
            <a:off x="1264217" y="351896"/>
            <a:ext cx="76638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三、基于学生认知增益反馈的数学教学能力增强</a:t>
            </a:r>
            <a:endParaRPr lang="zh-CN" altLang="en-US" sz="2800" b="1">
              <a:solidFill>
                <a:srgbClr val="314371"/>
              </a:solidFill>
              <a:latin typeface="微软雅黑"/>
              <a:ea typeface="微软雅黑"/>
              <a:sym typeface="微软雅黑" panose="020B0503020204020204" pitchFamily="34" charset="-122"/>
            </a:endParaRPr>
          </a:p>
        </p:txBody>
      </p:sp>
      <p:pic>
        <p:nvPicPr>
          <p:cNvPr id="12" name="图片 11" descr="图4.1学生认知增益反馈框架-科研插画版-v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1081405"/>
            <a:ext cx="11809095" cy="5062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914"/>
    </mc:Choice>
    <mc:Fallback>
      <p:transition advTm="891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流程图: 离页连接符 2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</a:fld>
            <a:r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/>
              </a:rPr>
              <a:t>  </a:t>
            </a: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00" y="952019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0" name="文本框 38"/>
          <p:cNvSpPr txBox="1"/>
          <p:nvPr/>
        </p:nvSpPr>
        <p:spPr>
          <a:xfrm>
            <a:off x="1264217" y="351896"/>
            <a:ext cx="26765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四、已取得</a:t>
            </a:r>
            <a:r>
              <a:rPr lang="zh-CN" altLang="en-US" sz="2800" b="1">
                <a:solidFill>
                  <a:srgbClr val="314371"/>
                </a:solidFill>
                <a:latin typeface="微软雅黑"/>
                <a:ea typeface="微软雅黑"/>
                <a:sym typeface="微软雅黑" panose="020B0503020204020204" pitchFamily="34" charset="-122"/>
              </a:rPr>
              <a:t>成果</a:t>
            </a:r>
            <a:endParaRPr lang="zh-CN" altLang="en-US" sz="2800" b="1">
              <a:solidFill>
                <a:srgbClr val="314371"/>
              </a:solidFill>
              <a:latin typeface="微软雅黑"/>
              <a:ea typeface="微软雅黑"/>
              <a:sym typeface="微软雅黑" panose="020B0503020204020204" pitchFamily="34" charset="-122"/>
            </a:endParaRPr>
          </a:p>
        </p:txBody>
      </p:sp>
      <p:pic>
        <p:nvPicPr>
          <p:cNvPr id="48" name="图形 2" descr="花环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8819" y="1760881"/>
            <a:ext cx="1091021" cy="1028976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3058795" y="3792855"/>
            <a:ext cx="779716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Progressive Tool Call Scheduling Reinforcement Learning for Mathematical Reasoning</a:t>
            </a:r>
            <a:endParaRPr lang="en-US" altLang="zh-CN" b="1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Expert Systems With Applications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再审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058633" y="1847212"/>
            <a:ext cx="6783572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面向小参数大语言模型的数学问题求解方法及其应用</a:t>
            </a:r>
            <a:endParaRPr lang="zh-CN" altLang="en-US" b="1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发明专利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受理中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意见以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反修完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1" name="图形 2" descr="花环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8819" y="3792743"/>
            <a:ext cx="1091021" cy="1028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914"/>
    </mc:Choice>
    <mc:Fallback>
      <p:transition advTm="891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2"/>
          <p:cNvSpPr/>
          <p:nvPr/>
        </p:nvSpPr>
        <p:spPr>
          <a:xfrm>
            <a:off x="-4548" y="256529"/>
            <a:ext cx="6033874" cy="695971"/>
          </a:xfrm>
          <a:custGeom>
            <a:avLst/>
            <a:gdLst>
              <a:gd name="connsiteX0" fmla="*/ 88 w 6914029"/>
              <a:gd name="connsiteY0" fmla="*/ 784984 h 787400"/>
              <a:gd name="connsiteX1" fmla="*/ 2435 w 6914029"/>
              <a:gd name="connsiteY1" fmla="*/ 0 h 787400"/>
              <a:gd name="connsiteX2" fmla="*/ 6370723 w 6914029"/>
              <a:gd name="connsiteY2" fmla="*/ 0 h 787400"/>
              <a:gd name="connsiteX3" fmla="*/ 6914029 w 6914029"/>
              <a:gd name="connsiteY3" fmla="*/ 787400 h 787400"/>
              <a:gd name="connsiteX4" fmla="*/ 88 w 6914029"/>
              <a:gd name="connsiteY4" fmla="*/ 784984 h 787400"/>
              <a:gd name="connsiteX5" fmla="*/ 0 w 7454900"/>
              <a:gd name="connsiteY5" fmla="*/ 7874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4028" h="787400">
                <a:moveTo>
                  <a:pt x="88" y="784984"/>
                </a:moveTo>
                <a:cubicBezTo>
                  <a:pt x="-616" y="523323"/>
                  <a:pt x="3139" y="261661"/>
                  <a:pt x="2435" y="0"/>
                </a:cubicBezTo>
                <a:lnTo>
                  <a:pt x="6370723" y="0"/>
                </a:lnTo>
                <a:lnTo>
                  <a:pt x="6914029" y="787400"/>
                </a:lnTo>
                <a:lnTo>
                  <a:pt x="88" y="78498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流程图: 离页连接符 2"/>
          <p:cNvSpPr/>
          <p:nvPr/>
        </p:nvSpPr>
        <p:spPr>
          <a:xfrm rot="10800000">
            <a:off x="10445750" y="569345"/>
            <a:ext cx="876300" cy="384342"/>
          </a:xfrm>
          <a:prstGeom prst="flowChartOffpageConnector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01767" y="658245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 panose="020B0503020204020204" pitchFamily="34" charset="-122"/>
              </a:rPr>
            </a:fld>
            <a:r>
              <a:rPr lang="zh-CN" altLang="en-US" sz="1200">
                <a:solidFill>
                  <a:srgbClr val="314371"/>
                </a:solidFill>
                <a:latin typeface="Arial" panose="020B0604020202090204"/>
                <a:ea typeface="微软雅黑" panose="020B0503020204020204" pitchFamily="34" charset="-122"/>
              </a:rPr>
              <a:t>  </a:t>
            </a:r>
            <a:r>
              <a:rPr lang="zh-CN" altLang="en-US" sz="120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00" y="952019"/>
            <a:ext cx="12192000" cy="0"/>
          </a:xfrm>
          <a:prstGeom prst="line">
            <a:avLst/>
          </a:prstGeom>
          <a:noFill/>
          <a:ln w="12700" cap="flat" cmpd="sng" algn="ctr">
            <a:solidFill>
              <a:srgbClr val="314371"/>
            </a:soli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607853" y="286420"/>
            <a:ext cx="392005" cy="582206"/>
            <a:chOff x="2437632" y="1965988"/>
            <a:chExt cx="1529173" cy="2271132"/>
          </a:xfrm>
          <a:solidFill>
            <a:srgbClr val="314371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3185996" y="1965988"/>
              <a:ext cx="780809" cy="732141"/>
            </a:xfrm>
            <a:custGeom>
              <a:avLst/>
              <a:gdLst>
                <a:gd name="T0" fmla="*/ 137 w 773"/>
                <a:gd name="T1" fmla="*/ 179 h 725"/>
                <a:gd name="T2" fmla="*/ 670 w 773"/>
                <a:gd name="T3" fmla="*/ 486 h 725"/>
                <a:gd name="T4" fmla="*/ 532 w 773"/>
                <a:gd name="T5" fmla="*/ 725 h 725"/>
                <a:gd name="T6" fmla="*/ 0 w 773"/>
                <a:gd name="T7" fmla="*/ 417 h 725"/>
                <a:gd name="T8" fmla="*/ 137 w 773"/>
                <a:gd name="T9" fmla="*/ 17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725">
                  <a:moveTo>
                    <a:pt x="137" y="179"/>
                  </a:moveTo>
                  <a:cubicBezTo>
                    <a:pt x="240" y="0"/>
                    <a:pt x="773" y="308"/>
                    <a:pt x="670" y="486"/>
                  </a:cubicBezTo>
                  <a:cubicBezTo>
                    <a:pt x="532" y="725"/>
                    <a:pt x="532" y="725"/>
                    <a:pt x="532" y="725"/>
                  </a:cubicBezTo>
                  <a:cubicBezTo>
                    <a:pt x="0" y="417"/>
                    <a:pt x="0" y="417"/>
                    <a:pt x="0" y="417"/>
                  </a:cubicBezTo>
                  <a:lnTo>
                    <a:pt x="137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437632" y="2425337"/>
              <a:ext cx="1264491" cy="1743052"/>
            </a:xfrm>
            <a:custGeom>
              <a:avLst/>
              <a:gdLst>
                <a:gd name="T0" fmla="*/ 0 w 1252"/>
                <a:gd name="T1" fmla="*/ 1256 h 1726"/>
                <a:gd name="T2" fmla="*/ 0 w 1252"/>
                <a:gd name="T3" fmla="*/ 1256 h 1726"/>
                <a:gd name="T4" fmla="*/ 20 w 1252"/>
                <a:gd name="T5" fmla="*/ 1618 h 1726"/>
                <a:gd name="T6" fmla="*/ 37 w 1252"/>
                <a:gd name="T7" fmla="*/ 1646 h 1726"/>
                <a:gd name="T8" fmla="*/ 165 w 1252"/>
                <a:gd name="T9" fmla="*/ 1720 h 1726"/>
                <a:gd name="T10" fmla="*/ 198 w 1252"/>
                <a:gd name="T11" fmla="*/ 1721 h 1726"/>
                <a:gd name="T12" fmla="*/ 524 w 1252"/>
                <a:gd name="T13" fmla="*/ 1557 h 1726"/>
                <a:gd name="T14" fmla="*/ 524 w 1252"/>
                <a:gd name="T15" fmla="*/ 1557 h 1726"/>
                <a:gd name="T16" fmla="*/ 538 w 1252"/>
                <a:gd name="T17" fmla="*/ 1544 h 1726"/>
                <a:gd name="T18" fmla="*/ 1221 w 1252"/>
                <a:gd name="T19" fmla="*/ 360 h 1726"/>
                <a:gd name="T20" fmla="*/ 1235 w 1252"/>
                <a:gd name="T21" fmla="*/ 337 h 1726"/>
                <a:gd name="T22" fmla="*/ 1252 w 1252"/>
                <a:gd name="T23" fmla="*/ 307 h 1726"/>
                <a:gd name="T24" fmla="*/ 1222 w 1252"/>
                <a:gd name="T25" fmla="*/ 290 h 1726"/>
                <a:gd name="T26" fmla="*/ 1085 w 1252"/>
                <a:gd name="T27" fmla="*/ 211 h 1726"/>
                <a:gd name="T28" fmla="*/ 884 w 1252"/>
                <a:gd name="T29" fmla="*/ 95 h 1726"/>
                <a:gd name="T30" fmla="*/ 749 w 1252"/>
                <a:gd name="T31" fmla="*/ 17 h 1726"/>
                <a:gd name="T32" fmla="*/ 719 w 1252"/>
                <a:gd name="T33" fmla="*/ 0 h 1726"/>
                <a:gd name="T34" fmla="*/ 702 w 1252"/>
                <a:gd name="T35" fmla="*/ 29 h 1726"/>
                <a:gd name="T36" fmla="*/ 688 w 1252"/>
                <a:gd name="T37" fmla="*/ 53 h 1726"/>
                <a:gd name="T38" fmla="*/ 4 w 1252"/>
                <a:gd name="T39" fmla="*/ 1237 h 1726"/>
                <a:gd name="T40" fmla="*/ 0 w 1252"/>
                <a:gd name="T41" fmla="*/ 1256 h 1726"/>
                <a:gd name="T42" fmla="*/ 75 w 1252"/>
                <a:gd name="T43" fmla="*/ 1252 h 1726"/>
                <a:gd name="T44" fmla="*/ 744 w 1252"/>
                <a:gd name="T45" fmla="*/ 93 h 1726"/>
                <a:gd name="T46" fmla="*/ 820 w 1252"/>
                <a:gd name="T47" fmla="*/ 137 h 1726"/>
                <a:gd name="T48" fmla="*/ 185 w 1252"/>
                <a:gd name="T49" fmla="*/ 1238 h 1726"/>
                <a:gd name="T50" fmla="*/ 89 w 1252"/>
                <a:gd name="T51" fmla="*/ 1263 h 1726"/>
                <a:gd name="T52" fmla="*/ 75 w 1252"/>
                <a:gd name="T53" fmla="*/ 1252 h 1726"/>
                <a:gd name="T54" fmla="*/ 173 w 1252"/>
                <a:gd name="T55" fmla="*/ 1646 h 1726"/>
                <a:gd name="T56" fmla="*/ 87 w 1252"/>
                <a:gd name="T57" fmla="*/ 1596 h 1726"/>
                <a:gd name="T58" fmla="*/ 72 w 1252"/>
                <a:gd name="T59" fmla="*/ 1331 h 1726"/>
                <a:gd name="T60" fmla="*/ 169 w 1252"/>
                <a:gd name="T61" fmla="*/ 1333 h 1726"/>
                <a:gd name="T62" fmla="*/ 246 w 1252"/>
                <a:gd name="T63" fmla="*/ 1432 h 1726"/>
                <a:gd name="T64" fmla="*/ 370 w 1252"/>
                <a:gd name="T65" fmla="*/ 1449 h 1726"/>
                <a:gd name="T66" fmla="*/ 421 w 1252"/>
                <a:gd name="T67" fmla="*/ 1532 h 1726"/>
                <a:gd name="T68" fmla="*/ 173 w 1252"/>
                <a:gd name="T69" fmla="*/ 1646 h 1726"/>
                <a:gd name="T70" fmla="*/ 244 w 1252"/>
                <a:gd name="T71" fmla="*/ 1272 h 1726"/>
                <a:gd name="T72" fmla="*/ 879 w 1252"/>
                <a:gd name="T73" fmla="*/ 171 h 1726"/>
                <a:gd name="T74" fmla="*/ 1021 w 1252"/>
                <a:gd name="T75" fmla="*/ 253 h 1726"/>
                <a:gd name="T76" fmla="*/ 385 w 1252"/>
                <a:gd name="T77" fmla="*/ 1353 h 1726"/>
                <a:gd name="T78" fmla="*/ 280 w 1252"/>
                <a:gd name="T79" fmla="*/ 1373 h 1726"/>
                <a:gd name="T80" fmla="*/ 244 w 1252"/>
                <a:gd name="T81" fmla="*/ 1272 h 1726"/>
                <a:gd name="T82" fmla="*/ 490 w 1252"/>
                <a:gd name="T83" fmla="*/ 1491 h 1726"/>
                <a:gd name="T84" fmla="*/ 470 w 1252"/>
                <a:gd name="T85" fmla="*/ 1483 h 1726"/>
                <a:gd name="T86" fmla="*/ 445 w 1252"/>
                <a:gd name="T87" fmla="*/ 1388 h 1726"/>
                <a:gd name="T88" fmla="*/ 1080 w 1252"/>
                <a:gd name="T89" fmla="*/ 287 h 1726"/>
                <a:gd name="T90" fmla="*/ 1158 w 1252"/>
                <a:gd name="T91" fmla="*/ 332 h 1726"/>
                <a:gd name="T92" fmla="*/ 490 w 1252"/>
                <a:gd name="T93" fmla="*/ 1491 h 1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2" h="1726">
                  <a:moveTo>
                    <a:pt x="0" y="1256"/>
                  </a:moveTo>
                  <a:cubicBezTo>
                    <a:pt x="0" y="1256"/>
                    <a:pt x="0" y="1256"/>
                    <a:pt x="0" y="1256"/>
                  </a:cubicBezTo>
                  <a:cubicBezTo>
                    <a:pt x="20" y="1618"/>
                    <a:pt x="20" y="1618"/>
                    <a:pt x="20" y="1618"/>
                  </a:cubicBezTo>
                  <a:cubicBezTo>
                    <a:pt x="20" y="1629"/>
                    <a:pt x="27" y="1640"/>
                    <a:pt x="37" y="1646"/>
                  </a:cubicBezTo>
                  <a:cubicBezTo>
                    <a:pt x="165" y="1720"/>
                    <a:pt x="165" y="1720"/>
                    <a:pt x="165" y="1720"/>
                  </a:cubicBezTo>
                  <a:cubicBezTo>
                    <a:pt x="175" y="1726"/>
                    <a:pt x="187" y="1726"/>
                    <a:pt x="198" y="1721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24" y="1557"/>
                    <a:pt x="524" y="1557"/>
                    <a:pt x="524" y="1557"/>
                  </a:cubicBezTo>
                  <a:cubicBezTo>
                    <a:pt x="530" y="1554"/>
                    <a:pt x="535" y="1550"/>
                    <a:pt x="538" y="1544"/>
                  </a:cubicBezTo>
                  <a:cubicBezTo>
                    <a:pt x="1221" y="360"/>
                    <a:pt x="1221" y="360"/>
                    <a:pt x="1221" y="360"/>
                  </a:cubicBezTo>
                  <a:cubicBezTo>
                    <a:pt x="1235" y="337"/>
                    <a:pt x="1235" y="337"/>
                    <a:pt x="1235" y="337"/>
                  </a:cubicBezTo>
                  <a:cubicBezTo>
                    <a:pt x="1252" y="307"/>
                    <a:pt x="1252" y="307"/>
                    <a:pt x="1252" y="307"/>
                  </a:cubicBezTo>
                  <a:cubicBezTo>
                    <a:pt x="1222" y="290"/>
                    <a:pt x="1222" y="290"/>
                    <a:pt x="1222" y="290"/>
                  </a:cubicBezTo>
                  <a:cubicBezTo>
                    <a:pt x="1085" y="211"/>
                    <a:pt x="1085" y="211"/>
                    <a:pt x="1085" y="211"/>
                  </a:cubicBezTo>
                  <a:cubicBezTo>
                    <a:pt x="884" y="95"/>
                    <a:pt x="884" y="95"/>
                    <a:pt x="884" y="95"/>
                  </a:cubicBezTo>
                  <a:cubicBezTo>
                    <a:pt x="749" y="17"/>
                    <a:pt x="749" y="17"/>
                    <a:pt x="749" y="17"/>
                  </a:cubicBezTo>
                  <a:cubicBezTo>
                    <a:pt x="719" y="0"/>
                    <a:pt x="719" y="0"/>
                    <a:pt x="719" y="0"/>
                  </a:cubicBezTo>
                  <a:cubicBezTo>
                    <a:pt x="702" y="29"/>
                    <a:pt x="702" y="29"/>
                    <a:pt x="702" y="29"/>
                  </a:cubicBezTo>
                  <a:cubicBezTo>
                    <a:pt x="688" y="53"/>
                    <a:pt x="688" y="53"/>
                    <a:pt x="688" y="53"/>
                  </a:cubicBezTo>
                  <a:cubicBezTo>
                    <a:pt x="4" y="1237"/>
                    <a:pt x="4" y="1237"/>
                    <a:pt x="4" y="1237"/>
                  </a:cubicBezTo>
                  <a:cubicBezTo>
                    <a:pt x="1" y="1243"/>
                    <a:pt x="0" y="1250"/>
                    <a:pt x="0" y="1256"/>
                  </a:cubicBezTo>
                  <a:close/>
                  <a:moveTo>
                    <a:pt x="75" y="1252"/>
                  </a:moveTo>
                  <a:cubicBezTo>
                    <a:pt x="744" y="93"/>
                    <a:pt x="744" y="93"/>
                    <a:pt x="744" y="93"/>
                  </a:cubicBezTo>
                  <a:cubicBezTo>
                    <a:pt x="820" y="137"/>
                    <a:pt x="820" y="137"/>
                    <a:pt x="820" y="137"/>
                  </a:cubicBezTo>
                  <a:cubicBezTo>
                    <a:pt x="185" y="1238"/>
                    <a:pt x="185" y="1238"/>
                    <a:pt x="185" y="1238"/>
                  </a:cubicBezTo>
                  <a:cubicBezTo>
                    <a:pt x="165" y="1271"/>
                    <a:pt x="123" y="1283"/>
                    <a:pt x="89" y="1263"/>
                  </a:cubicBezTo>
                  <a:cubicBezTo>
                    <a:pt x="84" y="1260"/>
                    <a:pt x="79" y="1256"/>
                    <a:pt x="75" y="1252"/>
                  </a:cubicBezTo>
                  <a:close/>
                  <a:moveTo>
                    <a:pt x="173" y="1646"/>
                  </a:moveTo>
                  <a:cubicBezTo>
                    <a:pt x="87" y="1596"/>
                    <a:pt x="87" y="1596"/>
                    <a:pt x="87" y="1596"/>
                  </a:cubicBezTo>
                  <a:cubicBezTo>
                    <a:pt x="72" y="1331"/>
                    <a:pt x="72" y="1331"/>
                    <a:pt x="72" y="1331"/>
                  </a:cubicBezTo>
                  <a:cubicBezTo>
                    <a:pt x="104" y="1343"/>
                    <a:pt x="138" y="1344"/>
                    <a:pt x="169" y="1333"/>
                  </a:cubicBezTo>
                  <a:cubicBezTo>
                    <a:pt x="176" y="1371"/>
                    <a:pt x="210" y="1412"/>
                    <a:pt x="246" y="1432"/>
                  </a:cubicBezTo>
                  <a:cubicBezTo>
                    <a:pt x="282" y="1453"/>
                    <a:pt x="333" y="1462"/>
                    <a:pt x="370" y="1449"/>
                  </a:cubicBezTo>
                  <a:cubicBezTo>
                    <a:pt x="376" y="1481"/>
                    <a:pt x="394" y="1511"/>
                    <a:pt x="421" y="1532"/>
                  </a:cubicBezTo>
                  <a:lnTo>
                    <a:pt x="173" y="1646"/>
                  </a:lnTo>
                  <a:close/>
                  <a:moveTo>
                    <a:pt x="244" y="1272"/>
                  </a:moveTo>
                  <a:cubicBezTo>
                    <a:pt x="879" y="171"/>
                    <a:pt x="879" y="171"/>
                    <a:pt x="879" y="171"/>
                  </a:cubicBezTo>
                  <a:cubicBezTo>
                    <a:pt x="1021" y="253"/>
                    <a:pt x="1021" y="253"/>
                    <a:pt x="1021" y="253"/>
                  </a:cubicBezTo>
                  <a:cubicBezTo>
                    <a:pt x="385" y="1353"/>
                    <a:pt x="385" y="1353"/>
                    <a:pt x="385" y="1353"/>
                  </a:cubicBezTo>
                  <a:cubicBezTo>
                    <a:pt x="366" y="1387"/>
                    <a:pt x="313" y="1393"/>
                    <a:pt x="280" y="1373"/>
                  </a:cubicBezTo>
                  <a:cubicBezTo>
                    <a:pt x="246" y="1354"/>
                    <a:pt x="225" y="1305"/>
                    <a:pt x="244" y="1272"/>
                  </a:cubicBezTo>
                  <a:close/>
                  <a:moveTo>
                    <a:pt x="490" y="1491"/>
                  </a:moveTo>
                  <a:cubicBezTo>
                    <a:pt x="483" y="1489"/>
                    <a:pt x="476" y="1487"/>
                    <a:pt x="470" y="1483"/>
                  </a:cubicBezTo>
                  <a:cubicBezTo>
                    <a:pt x="437" y="1464"/>
                    <a:pt x="425" y="1421"/>
                    <a:pt x="445" y="1388"/>
                  </a:cubicBezTo>
                  <a:cubicBezTo>
                    <a:pt x="1080" y="287"/>
                    <a:pt x="1080" y="287"/>
                    <a:pt x="1080" y="287"/>
                  </a:cubicBezTo>
                  <a:cubicBezTo>
                    <a:pt x="1158" y="332"/>
                    <a:pt x="1158" y="332"/>
                    <a:pt x="1158" y="332"/>
                  </a:cubicBezTo>
                  <a:lnTo>
                    <a:pt x="490" y="14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463246" y="4116733"/>
              <a:ext cx="123802" cy="120387"/>
            </a:xfrm>
            <a:custGeom>
              <a:avLst/>
              <a:gdLst>
                <a:gd name="T0" fmla="*/ 290 w 290"/>
                <a:gd name="T1" fmla="*/ 168 h 282"/>
                <a:gd name="T2" fmla="*/ 0 w 290"/>
                <a:gd name="T3" fmla="*/ 0 h 282"/>
                <a:gd name="T4" fmla="*/ 30 w 290"/>
                <a:gd name="T5" fmla="*/ 282 h 282"/>
                <a:gd name="T6" fmla="*/ 290 w 290"/>
                <a:gd name="T7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0" h="282">
                  <a:moveTo>
                    <a:pt x="290" y="168"/>
                  </a:moveTo>
                  <a:lnTo>
                    <a:pt x="0" y="0"/>
                  </a:lnTo>
                  <a:lnTo>
                    <a:pt x="30" y="282"/>
                  </a:lnTo>
                  <a:lnTo>
                    <a:pt x="29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38"/>
          <p:cNvSpPr txBox="1"/>
          <p:nvPr/>
        </p:nvSpPr>
        <p:spPr>
          <a:xfrm>
            <a:off x="1264217" y="351896"/>
            <a:ext cx="2320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六</a:t>
            </a:r>
            <a:r>
              <a:rPr lang="zh-CN" altLang="en-US" sz="2800" b="1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、后续</a:t>
            </a:r>
            <a:r>
              <a:rPr lang="zh-CN" altLang="en-US" sz="2800" b="1" dirty="0">
                <a:solidFill>
                  <a:srgbClr val="31437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计划</a:t>
            </a:r>
            <a:endParaRPr lang="zh-CN" altLang="en-US" sz="2800" b="1" dirty="0">
              <a:solidFill>
                <a:srgbClr val="31437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04215" y="3481070"/>
            <a:ext cx="10429240" cy="0"/>
          </a:xfrm>
          <a:prstGeom prst="straightConnector1">
            <a:avLst/>
          </a:prstGeom>
          <a:ln w="38100">
            <a:solidFill>
              <a:srgbClr val="31437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353820" y="2139315"/>
            <a:ext cx="2540" cy="1341755"/>
          </a:xfrm>
          <a:prstGeom prst="line">
            <a:avLst/>
          </a:prstGeom>
          <a:ln w="25400">
            <a:solidFill>
              <a:srgbClr val="314371"/>
            </a:soli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50495" y="1725930"/>
            <a:ext cx="2799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2026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10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 - 2025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12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endParaRPr lang="zh-CN" altLang="en-US" b="1">
              <a:solidFill>
                <a:srgbClr val="314371"/>
              </a:solidFill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33830" y="2740025"/>
            <a:ext cx="348742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完成</a:t>
            </a: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完成第四章论文</a:t>
            </a: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撰写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buClrTx/>
              <a:buSzTx/>
              <a:buFontTx/>
            </a:pP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351915" y="2233295"/>
            <a:ext cx="1014730" cy="359410"/>
          </a:xfrm>
          <a:prstGeom prst="rect">
            <a:avLst/>
          </a:prstGeom>
          <a:solidFill>
            <a:srgbClr val="3143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2947670" y="3481070"/>
            <a:ext cx="4445" cy="1473835"/>
          </a:xfrm>
          <a:prstGeom prst="line">
            <a:avLst/>
          </a:prstGeom>
          <a:ln w="25400">
            <a:solidFill>
              <a:srgbClr val="31437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947665" y="3514596"/>
            <a:ext cx="4157350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完成系统开发以及模型开源</a:t>
            </a:r>
            <a:endParaRPr lang="zh-CN" altLang="en-US" sz="1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完成第五章论文</a:t>
            </a:r>
            <a:r>
              <a:rPr lang="zh-CN" altLang="en-US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撰写</a:t>
            </a:r>
            <a:endParaRPr lang="zh-CN" altLang="en-US" sz="1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86230" y="5016500"/>
            <a:ext cx="301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2026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11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 - 2026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12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endParaRPr lang="zh-CN" altLang="en-US" b="1">
              <a:solidFill>
                <a:srgbClr val="314371"/>
              </a:solidFill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7355840" y="2122170"/>
            <a:ext cx="10160" cy="1368425"/>
          </a:xfrm>
          <a:prstGeom prst="line">
            <a:avLst/>
          </a:prstGeom>
          <a:ln w="25400">
            <a:solidFill>
              <a:srgbClr val="314371"/>
            </a:soli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174740" y="1725930"/>
            <a:ext cx="3416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2026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12月 - 2027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3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endParaRPr lang="zh-CN" altLang="en-US" b="1">
              <a:solidFill>
                <a:srgbClr val="314371"/>
              </a:solidFill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328519" y="2680970"/>
            <a:ext cx="4258428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1.完成大论文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2.根据外审意见进行修改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244840" y="3576320"/>
            <a:ext cx="369252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1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答辩</a:t>
            </a: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毕业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8244840" y="3481070"/>
            <a:ext cx="2540" cy="1419225"/>
          </a:xfrm>
          <a:prstGeom prst="line">
            <a:avLst/>
          </a:prstGeom>
          <a:ln w="25400">
            <a:solidFill>
              <a:srgbClr val="31437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7024370" y="4968240"/>
            <a:ext cx="256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2027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4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cs typeface="Times New Roman" panose="02020503050405090304" charset="0"/>
              </a:rPr>
              <a:t> - 2027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年</a:t>
            </a:r>
            <a:r>
              <a:rPr lang="en-US" altLang="zh-CN" b="1">
                <a:solidFill>
                  <a:srgbClr val="31437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6</a:t>
            </a:r>
            <a:r>
              <a:rPr lang="zh-CN" altLang="en-US" b="1">
                <a:solidFill>
                  <a:srgbClr val="314371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月</a:t>
            </a:r>
            <a:endParaRPr lang="zh-CN" altLang="en-US" b="1">
              <a:solidFill>
                <a:srgbClr val="314371"/>
              </a:solidFill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950210" y="4439920"/>
            <a:ext cx="1015200" cy="359410"/>
          </a:xfrm>
          <a:prstGeom prst="rect">
            <a:avLst/>
          </a:prstGeom>
          <a:solidFill>
            <a:srgbClr val="3143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364095" y="2233295"/>
            <a:ext cx="1014730" cy="359410"/>
          </a:xfrm>
          <a:prstGeom prst="rect">
            <a:avLst/>
          </a:prstGeom>
          <a:solidFill>
            <a:srgbClr val="3143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工作安排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247380" y="4439920"/>
            <a:ext cx="1015200" cy="359410"/>
          </a:xfrm>
          <a:prstGeom prst="rect">
            <a:avLst/>
          </a:prstGeom>
          <a:solidFill>
            <a:srgbClr val="3143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工作安排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914"/>
    </mc:Choice>
    <mc:Fallback>
      <p:transition advTm="891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2602230"/>
            <a:ext cx="12192000" cy="197167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汇报完毕</a:t>
            </a:r>
            <a:endParaRPr lang="en-US" altLang="zh-CN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" y="183515"/>
            <a:ext cx="1001456" cy="9932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183515"/>
            <a:ext cx="3586186" cy="794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914"/>
    </mc:Choice>
    <mc:Fallback>
      <p:transition advTm="8914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WPS 表格</Application>
  <PresentationFormat>宽屏</PresentationFormat>
  <Paragraphs>103</Paragraphs>
  <Slides>9</Slides>
  <Notes>15</Notes>
  <HiddenSlides>0</HiddenSlides>
  <MMClips>2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6" baseType="lpstr">
      <vt:lpstr>Arial</vt:lpstr>
      <vt:lpstr>宋体</vt:lpstr>
      <vt:lpstr>Wingdings</vt:lpstr>
      <vt:lpstr>方正正大黑简体</vt:lpstr>
      <vt:lpstr>汉仪中黑KW</vt:lpstr>
      <vt:lpstr>Times New Roman</vt:lpstr>
      <vt:lpstr>微软雅黑</vt:lpstr>
      <vt:lpstr>等线</vt:lpstr>
      <vt:lpstr>汉仪中等线KW</vt:lpstr>
      <vt:lpstr>微软雅黑</vt:lpstr>
      <vt:lpstr>方正雅意黑 GB18030L2</vt:lpstr>
      <vt:lpstr>Bebas Neue</vt:lpstr>
      <vt:lpstr>汉仪书宋二KW</vt:lpstr>
      <vt:lpstr>Arial</vt:lpstr>
      <vt:lpstr>黑体</vt:lpstr>
      <vt:lpstr>Calibri</vt:lpstr>
      <vt:lpstr>Helvetica Neue</vt:lpstr>
      <vt:lpstr>宋体</vt:lpstr>
      <vt:lpstr>Arial Unicode MS</vt:lpstr>
      <vt:lpstr>Calibri Light</vt:lpstr>
      <vt:lpstr>苹方-简</vt:lpstr>
      <vt:lpstr>Wingdings</vt:lpstr>
      <vt:lpstr>微软雅黑</vt:lpstr>
      <vt:lpstr>方正正大黑简体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上海剑姬网络科技有限公司</Company>
  <LinksUpToDate>false</LinksUpToDate>
  <SharedDoc>false</SharedDoc>
  <HyperlinksChanged>false</HyperlinksChanged>
  <AppVersion>14.0000</AppVersion>
  <Manager>风云办公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银河以北</cp:lastModifiedBy>
  <cp:revision>974</cp:revision>
  <dcterms:created xsi:type="dcterms:W3CDTF">2026-10-27T13:32:53Z</dcterms:created>
  <dcterms:modified xsi:type="dcterms:W3CDTF">2026-10-27T13:32:53Z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457FE4CFE79BA20DAC5325694525E21F_42</vt:lpwstr>
  </property>
  <property fmtid="{D5CDD505-2E9C-101B-9397-08002B2CF9AE}" pid="3" name="KSOProductBuildVer">
    <vt:lpwstr>2052-12.1.28496.28496</vt:lpwstr>
  </property>
</Properties>
</file>